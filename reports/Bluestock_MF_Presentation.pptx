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Lato" panose="020F0502020204030203" pitchFamily="34" charset="0"/>
      <p:regular r:id="rId14"/>
      <p:bold r:id="rId15"/>
    </p:embeddedFont>
    <p:embeddedFont>
      <p:font typeface="Lato Bold" panose="020F0502020204030203" charset="0"/>
      <p:regular r:id="rId16"/>
    </p:embeddedFont>
    <p:embeddedFont>
      <p:font typeface="Lato Light" panose="020F0502020204030203" pitchFamily="3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86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670745"/>
            <a:ext cx="2105174" cy="233214"/>
          </a:xfrm>
          <a:prstGeom prst="roundRect">
            <a:avLst>
              <a:gd name="adj" fmla="val 6383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1707952"/>
            <a:ext cx="241354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ANALYTICS INTERNSHIP · JUNE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953518"/>
            <a:ext cx="630540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Bluestock Mutual Fund Analytics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252710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end-to-end analytics platform for mutual fund performance analysis, investor behaviour, portfolio diversification, and investment risk — built through data engineering, financial analytics, and business intelligence techniques.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3094509"/>
            <a:ext cx="8151763" cy="9302"/>
          </a:xfrm>
          <a:prstGeom prst="rect">
            <a:avLst/>
          </a:prstGeom>
          <a:solidFill>
            <a:srgbClr val="4A4A4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327429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Prepared by: </a:t>
            </a: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Repalle Aravind Pavan Kumar</a:t>
            </a:r>
            <a:endParaRPr lang="en-US" sz="9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CB815B-F280-8FD4-CF13-A8D389E9612E}"/>
              </a:ext>
            </a:extLst>
          </p:cNvPr>
          <p:cNvSpPr/>
          <p:nvPr/>
        </p:nvSpPr>
        <p:spPr>
          <a:xfrm>
            <a:off x="7986700" y="4790049"/>
            <a:ext cx="1118382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71414"/>
            <a:ext cx="1095449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282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1113383"/>
            <a:ext cx="139429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CONTEXT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63712"/>
            <a:ext cx="581441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Business Problem &amp; Project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937296"/>
            <a:ext cx="4103191" cy="2134716"/>
          </a:xfrm>
          <a:prstGeom prst="roundRect">
            <a:avLst>
              <a:gd name="adj" fmla="val 872"/>
            </a:avLst>
          </a:prstGeom>
          <a:solidFill>
            <a:srgbClr val="282824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06127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379092"/>
            <a:ext cx="3855244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Asset Management Companies generate large volumes of financial and investor data. Traditional reporting struggles to provide a unified view across multiple datasets, making it difficult to derive actionable insights for fund performance monitoring, risk evaluation, and investment decision-making.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06127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379092"/>
            <a:ext cx="3924598" cy="164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a comprehensive mutual fund analytics platform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 a robust ETL pipeline for data processing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Analyze industry growth and investor behavior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Evaluate fund performance using financial metrics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 portfolio concentration and downside risk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interactive Power BI dashboards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Generate actionable business recommendations</a:t>
            </a:r>
            <a:endParaRPr lang="en-US" sz="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79CD82-36B7-855C-3BEF-F912C0E96248}"/>
              </a:ext>
            </a:extLst>
          </p:cNvPr>
          <p:cNvSpPr/>
          <p:nvPr/>
        </p:nvSpPr>
        <p:spPr>
          <a:xfrm>
            <a:off x="7986700" y="4783015"/>
            <a:ext cx="1118382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69193"/>
            <a:ext cx="1098724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282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611163"/>
            <a:ext cx="1397571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ENGINEERING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61492"/>
            <a:ext cx="503842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Sources &amp; Technology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55904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876871"/>
            <a:ext cx="3924598" cy="1891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Mutual Fund NAV History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Fund Master Data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Investor Transaction Data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Assets Under Management (AUM)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Portfolio Holdings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Benchmark Index Data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Scheme Performance Data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SIP Data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8749" y="1435075"/>
            <a:ext cx="4103191" cy="2376562"/>
          </a:xfrm>
          <a:prstGeom prst="roundRect">
            <a:avLst>
              <a:gd name="adj" fmla="val 783"/>
            </a:avLst>
          </a:prstGeom>
          <a:solidFill>
            <a:srgbClr val="282824"/>
          </a:solidFill>
          <a:ln/>
        </p:spPr>
      </p:sp>
      <p:sp>
        <p:nvSpPr>
          <p:cNvPr id="8" name="Text 6"/>
          <p:cNvSpPr/>
          <p:nvPr/>
        </p:nvSpPr>
        <p:spPr>
          <a:xfrm>
            <a:off x="4762723" y="155904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723" y="1876871"/>
            <a:ext cx="3855244" cy="1847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</a:t>
            </a: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core programming language for data processing and analytics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</a:t>
            </a: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data manipulation, transformation, and analysis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SQLite</a:t>
            </a: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lightweight relational database for structured storage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</a:t>
            </a: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querying and aggregating analytical datasets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BI</a:t>
            </a: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interactive dashboard and visualization layer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GitHub</a:t>
            </a: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version control and collaboration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Jupyter Notebook</a:t>
            </a: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exploratory analysis and documentation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3951163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B6D6F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130948"/>
            <a:ext cx="155004" cy="1239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9071" y="4093741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Outcome: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Integration of multiple datasets into a unified analytical framework for mutual fund analysis.</a:t>
            </a:r>
            <a:endParaRPr lang="en-US" sz="9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5FEAAA-12F9-FEFC-1AE5-4958D640A748}"/>
              </a:ext>
            </a:extLst>
          </p:cNvPr>
          <p:cNvSpPr/>
          <p:nvPr/>
        </p:nvSpPr>
        <p:spPr>
          <a:xfrm>
            <a:off x="8025618" y="4832252"/>
            <a:ext cx="1118382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605" y="253975"/>
            <a:ext cx="792212" cy="161032"/>
          </a:xfrm>
          <a:prstGeom prst="roundRect">
            <a:avLst>
              <a:gd name="adj" fmla="val 6644"/>
            </a:avLst>
          </a:prstGeom>
          <a:noFill/>
          <a:ln w="4763">
            <a:solidFill>
              <a:srgbClr val="282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4797" y="285452"/>
            <a:ext cx="1133029" cy="9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ENGINEERING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56605" y="440606"/>
            <a:ext cx="3855765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System Architecture &amp; ETL Design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815206"/>
            <a:ext cx="7030715" cy="3084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87321" y="3116512"/>
            <a:ext cx="1062585" cy="19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Transform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187321" y="3360887"/>
            <a:ext cx="1062585" cy="26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Clean, validate and standardize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62903" y="2985763"/>
            <a:ext cx="1062585" cy="19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Analyze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62903" y="3230138"/>
            <a:ext cx="1062585" cy="39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BI dashboards &amp; insights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536736" y="1092389"/>
            <a:ext cx="1062585" cy="19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Extract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536736" y="1336764"/>
            <a:ext cx="1062585" cy="13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Ingest raw CSV files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98788" y="1092389"/>
            <a:ext cx="1062585" cy="19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Load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98788" y="1336764"/>
            <a:ext cx="1062585" cy="26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Populate SQLite database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6605" y="3971255"/>
            <a:ext cx="7030715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ETL pipeline ensures high-quality, consistent data flows from raw sources to analytical outputs. Key activities include missing value handling, duplicate removal, data type standardization, rigorous validation checks, and structured database integration — creating a reliable foundation for all downstream analytics.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917624" y="4288408"/>
            <a:ext cx="2300808" cy="601117"/>
          </a:xfrm>
          <a:prstGeom prst="roundRect">
            <a:avLst>
              <a:gd name="adj" fmla="val 2225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3"/>
          <p:cNvSpPr/>
          <p:nvPr/>
        </p:nvSpPr>
        <p:spPr>
          <a:xfrm>
            <a:off x="1145753" y="4377556"/>
            <a:ext cx="11144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Quality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45753" y="4555257"/>
            <a:ext cx="2122512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Missing value handling, duplicate removal, and type standardization ensure clean, consistent inputs.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307419" y="4288408"/>
            <a:ext cx="2300883" cy="601117"/>
          </a:xfrm>
          <a:prstGeom prst="roundRect">
            <a:avLst>
              <a:gd name="adj" fmla="val 2225"/>
            </a:avLst>
          </a:prstGeom>
          <a:solidFill>
            <a:srgbClr val="E5DFD2"/>
          </a:solidFill>
          <a:ln/>
        </p:spPr>
      </p:sp>
      <p:sp>
        <p:nvSpPr>
          <p:cNvPr id="19" name="Text 16"/>
          <p:cNvSpPr/>
          <p:nvPr/>
        </p:nvSpPr>
        <p:spPr>
          <a:xfrm>
            <a:off x="3510632" y="4377556"/>
            <a:ext cx="11144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510632" y="4555257"/>
            <a:ext cx="2122587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checks confirm data integrity before loading into the SQLite database.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672533" y="4301174"/>
            <a:ext cx="2300883" cy="601117"/>
          </a:xfrm>
          <a:prstGeom prst="roundRect">
            <a:avLst>
              <a:gd name="adj" fmla="val 2225"/>
            </a:avLst>
          </a:prstGeom>
          <a:solidFill>
            <a:srgbClr val="E5DFD2"/>
          </a:solidFill>
          <a:ln/>
        </p:spPr>
      </p:sp>
      <p:sp>
        <p:nvSpPr>
          <p:cNvPr id="22" name="Text 19"/>
          <p:cNvSpPr/>
          <p:nvPr/>
        </p:nvSpPr>
        <p:spPr>
          <a:xfrm>
            <a:off x="5875586" y="4377556"/>
            <a:ext cx="11144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875586" y="4555257"/>
            <a:ext cx="2122587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Unified analytical datasets support seamless Power BI connectivity and reporting.</a:t>
            </a:r>
            <a:endParaRPr lang="en-US" sz="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414F6E-CC9E-25F0-D82F-D157D5425407}"/>
              </a:ext>
            </a:extLst>
          </p:cNvPr>
          <p:cNvSpPr/>
          <p:nvPr/>
        </p:nvSpPr>
        <p:spPr>
          <a:xfrm>
            <a:off x="8037648" y="4772299"/>
            <a:ext cx="1026636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8229"/>
            <a:ext cx="1317947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282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400199"/>
            <a:ext cx="161679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EXPLORATORY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0528"/>
            <a:ext cx="546273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Industry Overview &amp; Growth Trends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34808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665908"/>
            <a:ext cx="3924598" cy="1761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Industry AUM increased from approximately </a:t>
            </a: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3.0M to 6.3M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more than doubling over the analysis period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SIP inflows exceeded </a:t>
            </a: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940K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reflecting growing systematic investment participation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Investor folios crossed </a:t>
            </a: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26.12 crore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demonstrating broad market penetration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SBI Mutual Fund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emerged as the leading AMC by AUM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ICICI Prudential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HDFC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remained major competitors in the space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566666"/>
            <a:ext cx="3924598" cy="1079004"/>
          </a:xfrm>
          <a:prstGeom prst="roundRect">
            <a:avLst>
              <a:gd name="adj" fmla="val 1724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755975"/>
            <a:ext cx="155004" cy="1239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9071" y="3709243"/>
            <a:ext cx="339767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Insight: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The mutual fund industry demonstrated strong and sustained growth, supported by increasing investor participation and systematic investment adoption across demographics.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046" y="1363638"/>
            <a:ext cx="3924598" cy="282490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3DE1824-3B68-7DC7-8224-9B3F54094C06}"/>
              </a:ext>
            </a:extLst>
          </p:cNvPr>
          <p:cNvSpPr/>
          <p:nvPr/>
        </p:nvSpPr>
        <p:spPr>
          <a:xfrm>
            <a:off x="8044682" y="4772299"/>
            <a:ext cx="1026636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51111"/>
            <a:ext cx="1317947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282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1193081"/>
            <a:ext cx="161679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EXPLORATORY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43410"/>
            <a:ext cx="41459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Investor Behavior Analysis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16993"/>
            <a:ext cx="310083" cy="3100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1206" y="2016993"/>
            <a:ext cx="172960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Geographic Participation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1206" y="2285256"/>
            <a:ext cx="353325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Punjab and Tamil Nadu recorded significant investment activity, highlighting regional hotspots for targeted investor engagement and marketing initiatives.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2016993"/>
            <a:ext cx="310083" cy="3100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14553" y="201699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Age Demographics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114553" y="2285256"/>
            <a:ext cx="353332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Investors aged </a:t>
            </a: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26–35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contributed the highest SIP volume, underscoring young professionals as the primary driver of systematic investment growth.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28665"/>
            <a:ext cx="310083" cy="3100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1206" y="312866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Transaction Patterns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61206" y="3396928"/>
            <a:ext cx="353325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Lump sum investments represented the largest transaction category by value, while monthly transaction activity remained stable throughout the analysis period.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5" y="3128665"/>
            <a:ext cx="310083" cy="3100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14553" y="312866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SIP Growth Driver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114553" y="3396928"/>
            <a:ext cx="353332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Young investors continue to drive SIP adoption, signaling long-term market expansion potential and the importance of digital-first onboarding strategies.</a:t>
            </a:r>
            <a:endParaRPr lang="en-US" sz="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8D7BAB-E9E2-CB97-D9DC-4E93A8B2DFA2}"/>
              </a:ext>
            </a:extLst>
          </p:cNvPr>
          <p:cNvSpPr/>
          <p:nvPr/>
        </p:nvSpPr>
        <p:spPr>
          <a:xfrm>
            <a:off x="8037648" y="4772299"/>
            <a:ext cx="1026636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378321"/>
            <a:ext cx="1201564" cy="237827"/>
          </a:xfrm>
          <a:prstGeom prst="roundRect">
            <a:avLst>
              <a:gd name="adj" fmla="val 6161"/>
            </a:avLst>
          </a:prstGeom>
          <a:noFill/>
          <a:ln w="4763">
            <a:solidFill>
              <a:srgbClr val="282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365" y="419695"/>
            <a:ext cx="150279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FINANCIAL ANALYTICS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88379" y="664220"/>
            <a:ext cx="671162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Financial Performance &amp; Risk-Return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88379" y="1346150"/>
            <a:ext cx="261438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Performance Metrics Evaluated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092" y="1672084"/>
            <a:ext cx="1921520" cy="11651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69" y="1808411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CAGR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69" y="2119313"/>
            <a:ext cx="1591717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Annualized investment growth rate over the analysis period.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1503" y="1672084"/>
            <a:ext cx="1921594" cy="11651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4980" y="1808411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Sharpe Ratio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694980" y="2119313"/>
            <a:ext cx="159179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Risk-adjusted return — excess return per unit of volatility.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092" y="2957364"/>
            <a:ext cx="1921520" cy="11651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7569" y="3093690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Alpha &amp; Beta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67569" y="3404592"/>
            <a:ext cx="1591717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Excess return relative to benchmark and market sensitivity.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1503" y="2957364"/>
            <a:ext cx="1921594" cy="116510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694980" y="3093690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Max Drawdown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694980" y="3404592"/>
            <a:ext cx="159179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Largest peak-to-trough decline in portfolio value.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725665" y="1346150"/>
            <a:ext cx="2417415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Risk vs. Return Observations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25665" y="1657052"/>
            <a:ext cx="39347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scatter plot analysis compared fund performance across risk and return dimensions: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725665" y="2152873"/>
            <a:ext cx="3934718" cy="1483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 returns were generally associated with higher volatility</a:t>
            </a:r>
            <a:endParaRPr lang="en-US" sz="9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Large-cap and flexi-cap funds demonstrated balanced risk-return characteristics</a:t>
            </a:r>
            <a:endParaRPr lang="en-US" sz="9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Lower-risk funds produced more stable but comparatively lower returns</a:t>
            </a:r>
            <a:endParaRPr lang="en-US" sz="9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Different schemes showed varying levels of benchmark outperformance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725665" y="3771156"/>
            <a:ext cx="3934718" cy="858813"/>
          </a:xfrm>
          <a:prstGeom prst="roundRect">
            <a:avLst>
              <a:gd name="adj" fmla="val 2133"/>
            </a:avLst>
          </a:prstGeom>
          <a:solidFill>
            <a:srgbClr val="DBDBD7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704" y="3959796"/>
            <a:ext cx="152623" cy="1220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22366" y="3909789"/>
            <a:ext cx="3415978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Insight: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Investors must balance expected return against acceptable risk exposure when selecting investment products. Multi-dimensional fund evaluation is essential.</a:t>
            </a:r>
            <a:endParaRPr lang="en-US" sz="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F07B92-2151-EF9C-B868-363E3C32F29A}"/>
              </a:ext>
            </a:extLst>
          </p:cNvPr>
          <p:cNvSpPr/>
          <p:nvPr/>
        </p:nvSpPr>
        <p:spPr>
          <a:xfrm>
            <a:off x="8037648" y="4772299"/>
            <a:ext cx="1026636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9152"/>
            <a:ext cx="1242789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282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521122"/>
            <a:ext cx="154163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ADVANCED ANALYTICS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71451"/>
            <a:ext cx="555389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Risk Modelling: VaR &amp; CVaR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345034"/>
            <a:ext cx="4103191" cy="3319239"/>
          </a:xfrm>
          <a:prstGeom prst="roundRect">
            <a:avLst>
              <a:gd name="adj" fmla="val 561"/>
            </a:avLst>
          </a:prstGeom>
          <a:solidFill>
            <a:srgbClr val="282824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146900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Value at Risk (VaR)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1786830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Measures the </a:t>
            </a:r>
            <a:r>
              <a:rPr lang="en-US" sz="9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maximum expected loss</a:t>
            </a: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at a 95% confidence level over a defined time horizon. Provides a single-number summary of downside exposure for portfolio risk assessment.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0796" y="2552700"/>
            <a:ext cx="3855244" cy="93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796" y="2732484"/>
            <a:ext cx="20891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Conditional VaR (CVaR)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796" y="3050307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Measures the </a:t>
            </a:r>
            <a:r>
              <a:rPr lang="en-US" sz="9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average loss beyond the VaR threshold</a:t>
            </a:r>
            <a:r>
              <a:rPr lang="en-US" sz="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offering deeper insight into tail-risk exposure and extreme downside scenarios that VaR alone may understate.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28046" y="146900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8046" y="1786830"/>
            <a:ext cx="3924598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Significant variation in downside risk observed across funds in the portfolio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Fund 101207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exhibited one of the highest downside-risk levels in the dataset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CVaR analysis revealed meaningful tail-risk exposure not captured by VaR alone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 profiles varied considerably by fund category and investment strategy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28046" y="3644205"/>
            <a:ext cx="3924598" cy="880542"/>
          </a:xfrm>
          <a:prstGeom prst="roundRect">
            <a:avLst>
              <a:gd name="adj" fmla="val 2113"/>
            </a:avLst>
          </a:prstGeom>
          <a:solidFill>
            <a:srgbClr val="FCF2B5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833515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30998" y="3786783"/>
            <a:ext cx="33976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Value: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VaR and CVaR metrics support proactive risk management, regulatory reporting, and informed investment decision-making for fund managers and investors alike.</a:t>
            </a:r>
            <a:endParaRPr lang="en-US" sz="9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E2E9BE-C4F9-EAA3-9667-0AEC5A45F0AE}"/>
              </a:ext>
            </a:extLst>
          </p:cNvPr>
          <p:cNvSpPr/>
          <p:nvPr/>
        </p:nvSpPr>
        <p:spPr>
          <a:xfrm>
            <a:off x="8037648" y="4772299"/>
            <a:ext cx="1026636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49647"/>
            <a:ext cx="1242789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282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791617"/>
            <a:ext cx="154163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ADVANCED ANALYTICS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41946"/>
            <a:ext cx="844048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Investor Cohort, SIP Continuity &amp; Portfolio Concentration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677516"/>
            <a:ext cx="2613868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4,803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27733" y="224187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2024 Investor Cohort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510135"/>
            <a:ext cx="261386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New investors onboarded in the 2024 cohort period.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64991" y="1677516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₹349Cr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05820" y="2241872"/>
            <a:ext cx="173228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Cohort Investment Value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64991" y="2510135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investment value generated by the 2024 cohort.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3939" y="1677516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71940" y="2241872"/>
            <a:ext cx="17378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SIP Gap Threshold (Days)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3939" y="2510135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Investors with gaps exceeding this threshold classified as AT_RISK.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119" y="3170560"/>
            <a:ext cx="207034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SIP Continuity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488382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Investors with payment gaps exceeding 35 days were flagged as </a:t>
            </a: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AT_RISK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enabling proactive retention outreach. This analysis supports targeted engagement initiatives to reduce churn and sustain SIP inflows.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28046" y="3170560"/>
            <a:ext cx="251921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Portfolio Concentration (HHI)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28046" y="3488382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Herfindahl-Hirschman Index (HHI) measured portfolio diversification across funds. </a:t>
            </a:r>
            <a:r>
              <a:rPr lang="en-US" sz="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Most funds demonstrated strong diversification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with relatively low concentration risk, indicating healthy asset allocation practices across the portfolio.</a:t>
            </a:r>
            <a:endParaRPr lang="en-US" sz="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857407-FC1F-82F1-378C-01BA21634320}"/>
              </a:ext>
            </a:extLst>
          </p:cNvPr>
          <p:cNvSpPr/>
          <p:nvPr/>
        </p:nvSpPr>
        <p:spPr>
          <a:xfrm>
            <a:off x="8037648" y="4772299"/>
            <a:ext cx="1026636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04651"/>
            <a:ext cx="621283" cy="173682"/>
          </a:xfrm>
          <a:prstGeom prst="roundRect">
            <a:avLst>
              <a:gd name="adj" fmla="val 6562"/>
            </a:avLst>
          </a:prstGeom>
          <a:noFill/>
          <a:ln w="4763">
            <a:solidFill>
              <a:srgbClr val="2828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9025" y="337840"/>
            <a:ext cx="955104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5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CONCLUSION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827336" y="507355"/>
            <a:ext cx="6186785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Dashboard Solution, Key Insights &amp; Recommendations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27336" y="985838"/>
            <a:ext cx="2029271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Power BI Dashboard Modules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7336" y="1215926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27336" y="1367805"/>
            <a:ext cx="3628727" cy="9525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8" name="Text 6"/>
          <p:cNvSpPr/>
          <p:nvPr/>
        </p:nvSpPr>
        <p:spPr>
          <a:xfrm>
            <a:off x="827336" y="1434331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Industry Overview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7336" y="1655341"/>
            <a:ext cx="3628727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AUM trends, SIP inflows, and AMC market share.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27336" y="1933352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27336" y="2085231"/>
            <a:ext cx="3628727" cy="9525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2" name="Text 10"/>
          <p:cNvSpPr/>
          <p:nvPr/>
        </p:nvSpPr>
        <p:spPr>
          <a:xfrm>
            <a:off x="827336" y="2151757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Fund Performance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7336" y="2372767"/>
            <a:ext cx="3628727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CAGR, Sharpe ratio, alpha, and benchmark comparisons.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27336" y="2650778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27336" y="2802657"/>
            <a:ext cx="3628727" cy="9525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6" name="Text 14"/>
          <p:cNvSpPr/>
          <p:nvPr/>
        </p:nvSpPr>
        <p:spPr>
          <a:xfrm>
            <a:off x="827336" y="2869183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Investor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7336" y="3090193"/>
            <a:ext cx="3628727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Demographics, geographic distribution, and cohort analysis.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27336" y="3368204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27336" y="3520083"/>
            <a:ext cx="3628727" cy="9525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0" name="Text 18"/>
          <p:cNvSpPr/>
          <p:nvPr/>
        </p:nvSpPr>
        <p:spPr>
          <a:xfrm>
            <a:off x="827336" y="3586609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SIP &amp; Market Trends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7336" y="3807619"/>
            <a:ext cx="3628727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Continuity tracking, risk metrics, and market dynamics.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624164" y="913135"/>
            <a:ext cx="3765500" cy="3181573"/>
          </a:xfrm>
          <a:prstGeom prst="roundRect">
            <a:avLst>
              <a:gd name="adj" fmla="val 448"/>
            </a:avLst>
          </a:prstGeom>
          <a:solidFill>
            <a:srgbClr val="282824"/>
          </a:solidFill>
          <a:ln/>
        </p:spPr>
      </p:sp>
      <p:sp>
        <p:nvSpPr>
          <p:cNvPr id="23" name="Text 21"/>
          <p:cNvSpPr/>
          <p:nvPr/>
        </p:nvSpPr>
        <p:spPr>
          <a:xfrm>
            <a:off x="4719117" y="985838"/>
            <a:ext cx="2220962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19117" y="1206847"/>
            <a:ext cx="3575596" cy="772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Industry AUM more than doubled — sustained growth trajectory confirmed</a:t>
            </a:r>
            <a:endParaRPr lang="en-US" sz="7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SBI Mutual Fund maintained market leadership throughout the period</a:t>
            </a:r>
            <a:endParaRPr lang="en-US" sz="7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2024 investor cohort generated the highest investment contribution</a:t>
            </a:r>
            <a:endParaRPr lang="en-US" sz="7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Most portfolios exhibited strong diversification with low concentration risk</a:t>
            </a:r>
            <a:endParaRPr lang="en-US" sz="7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Rolling Sharpe analysis highlighted evolving risk-adjusted performance over time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19117" y="2084636"/>
            <a:ext cx="3575596" cy="7069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19117" y="2197224"/>
            <a:ext cx="1948086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Strategic Recommendations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19117" y="2418234"/>
            <a:ext cx="3575596" cy="61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Strengthen SIP retention initiatives targeting AT_RISK investors</a:t>
            </a:r>
            <a:endParaRPr lang="en-US" sz="7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 high-risk funds using VaR and CVaR frameworks</a:t>
            </a:r>
            <a:endParaRPr lang="en-US" sz="7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Promote diversified portfolio construction across fund categories</a:t>
            </a:r>
            <a:endParaRPr lang="en-US" sz="7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Expand recommendation models using machine learning techniques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27336" y="4176489"/>
            <a:ext cx="7489254" cy="580579"/>
          </a:xfrm>
          <a:prstGeom prst="roundRect">
            <a:avLst>
              <a:gd name="adj" fmla="val 2454"/>
            </a:avLst>
          </a:prstGeom>
          <a:solidFill>
            <a:srgbClr val="B6FCB8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88" y="4302547"/>
            <a:ext cx="118690" cy="9495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35931" y="4265637"/>
            <a:ext cx="7085707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Project Conclusion:</a:t>
            </a:r>
            <a:r>
              <a:rPr lang="en-US" sz="7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The Bluestock Mutual Fund Analytics Platform successfully combined data engineering, financial analytics, business intelligence, and risk modelling into a unified analytical framework — transforming raw financial datasets into actionable business intelligence and providing a scalable foundation for data-driven decision-making.</a:t>
            </a:r>
            <a:endParaRPr lang="en-US" sz="7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AB5305-277D-592E-B42C-89F18BB3FC99}"/>
              </a:ext>
            </a:extLst>
          </p:cNvPr>
          <p:cNvSpPr/>
          <p:nvPr/>
        </p:nvSpPr>
        <p:spPr>
          <a:xfrm>
            <a:off x="8037648" y="4772299"/>
            <a:ext cx="1026636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489EA4-26F7-49B1-4C38-3ED833757A45}"/>
              </a:ext>
            </a:extLst>
          </p:cNvPr>
          <p:cNvSpPr txBox="1"/>
          <p:nvPr/>
        </p:nvSpPr>
        <p:spPr>
          <a:xfrm>
            <a:off x="2693962" y="1751427"/>
            <a:ext cx="3875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THANKYOU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7F329-6CFF-FA7F-3916-AD392BE6123F}"/>
              </a:ext>
            </a:extLst>
          </p:cNvPr>
          <p:cNvSpPr/>
          <p:nvPr/>
        </p:nvSpPr>
        <p:spPr>
          <a:xfrm>
            <a:off x="8037648" y="4772299"/>
            <a:ext cx="1026636" cy="31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688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1172</Words>
  <Application>Microsoft Office PowerPoint</Application>
  <PresentationFormat>On-screen Show (16:9)</PresentationFormat>
  <Paragraphs>155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Lato Bold</vt:lpstr>
      <vt:lpstr>Arial</vt:lpstr>
      <vt:lpstr>Lato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aravind pavan</dc:creator>
  <cp:lastModifiedBy>aravind pavan</cp:lastModifiedBy>
  <cp:revision>3</cp:revision>
  <dcterms:created xsi:type="dcterms:W3CDTF">2026-06-11T13:39:16Z</dcterms:created>
  <dcterms:modified xsi:type="dcterms:W3CDTF">2026-06-11T13:59:10Z</dcterms:modified>
</cp:coreProperties>
</file>